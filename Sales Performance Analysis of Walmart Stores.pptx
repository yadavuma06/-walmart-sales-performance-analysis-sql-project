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69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B55"/>
    <a:srgbClr val="421749"/>
    <a:srgbClr val="371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1790B-3D35-4238-B596-0AC9CA59E4F9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2FBB1-6A90-4897-B6C3-0F5FD8350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5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2FBB1-6A90-4897-B6C3-0F5FD835088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960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UqBl47HhYs7cAXnN0kCcdcY5H4qOKhWS/view?usp=drive_li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C34D-6A67-5546-306B-C61900644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dirty="0"/>
              <a:t>Sales Performance Analysis of Walmart Stores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49B73-2467-9339-53B3-A0AE038C2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572545"/>
            <a:ext cx="7197726" cy="1405467"/>
          </a:xfrm>
          <a:solidFill>
            <a:schemeClr val="bg2"/>
          </a:solidFill>
        </p:spPr>
        <p:txBody>
          <a:bodyPr/>
          <a:lstStyle/>
          <a:p>
            <a:r>
              <a:rPr lang="en-IN" dirty="0"/>
              <a:t>Uma Yadav</a:t>
            </a:r>
          </a:p>
          <a:p>
            <a:r>
              <a:rPr lang="en-IN" dirty="0"/>
              <a:t>Batch: 15</a:t>
            </a:r>
            <a:r>
              <a:rPr lang="en-IN" baseline="30000" dirty="0"/>
              <a:t>th_june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DA19F-C642-CAB9-C344-1DBB8D8B4CC4}"/>
              </a:ext>
            </a:extLst>
          </p:cNvPr>
          <p:cNvSpPr/>
          <p:nvPr/>
        </p:nvSpPr>
        <p:spPr>
          <a:xfrm>
            <a:off x="196645" y="265472"/>
            <a:ext cx="5515897" cy="1150374"/>
          </a:xfrm>
          <a:prstGeom prst="rect">
            <a:avLst/>
          </a:prstGeom>
          <a:solidFill>
            <a:srgbClr val="4D1B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05B4CF-8455-695F-8B56-E57FC3EDF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64831"/>
            <a:ext cx="5732206" cy="155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9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AA39-B749-A562-8ABD-66C5B7C5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12955"/>
            <a:ext cx="10131425" cy="963561"/>
          </a:xfrm>
          <a:solidFill>
            <a:schemeClr val="bg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Analyze Walmart sales to find insights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C6BDAF-9A08-6F23-04E3-BC1E062855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51728"/>
            <a:ext cx="328006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 performance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Profitable products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segmentation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anomalies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 Payment methods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 Gender based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Peak sales periods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customers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15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1F9D-FE08-0F43-F4F3-98CD4E8AB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894735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/>
              <a:t>Dateset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61DB60-3D53-F399-BE5F-72F059A81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35286"/>
            <a:ext cx="10131425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/>
              <a:t>The dataset provided contains detailed transaction data, including customer demographics, product lines, sales figures, and payment methods. 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Rows: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Period: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Jan–Mar 2019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Branches: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A, B, 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Fields: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Branch, City, Customer Type, Gender, Product Line, Payment, Sales, Profit</a:t>
            </a:r>
          </a:p>
        </p:txBody>
      </p:sp>
    </p:spTree>
    <p:extLst>
      <p:ext uri="{BB962C8B-B14F-4D97-AF65-F5344CB8AC3E}">
        <p14:creationId xmlns:p14="http://schemas.microsoft.com/office/powerpoint/2010/main" val="125375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FD17-38F7-5FF5-DA42-75F8FE26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4464"/>
            <a:ext cx="10131425" cy="816077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/>
              <a:t>Tools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4755-2F2D-E250-BD52-890CE7816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12119"/>
            <a:ext cx="10131425" cy="2892049"/>
          </a:xfrm>
        </p:spPr>
        <p:txBody>
          <a:bodyPr/>
          <a:lstStyle/>
          <a:p>
            <a:r>
              <a:rPr lang="en-IN" sz="2000" dirty="0"/>
              <a:t>Database: MySQL Workbench 8.0</a:t>
            </a:r>
          </a:p>
          <a:p>
            <a:r>
              <a:rPr lang="en-IN" sz="2000" dirty="0"/>
              <a:t>Methods: Advanced SQL queries, Window Functions( </a:t>
            </a:r>
            <a:r>
              <a:rPr lang="en-IN" sz="2000" dirty="0" err="1"/>
              <a:t>Dense_rank</a:t>
            </a:r>
            <a:r>
              <a:rPr lang="en-IN" sz="2000" dirty="0"/>
              <a:t>(), NTILE(), CTEs , Date Functions, Subqueries</a:t>
            </a:r>
          </a:p>
          <a:p>
            <a:r>
              <a:rPr lang="en-IN" sz="2000" dirty="0"/>
              <a:t>Visualization: PowerPoint 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495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C66F-4C19-75D5-8254-6271D9B5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65472"/>
            <a:ext cx="10131425" cy="909484"/>
          </a:xfrm>
          <a:solidFill>
            <a:schemeClr val="bg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Task 1: Finding top branches by sales growth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90DA4A-F8A3-3091-9CFA-4829D4C13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335" y="1474839"/>
            <a:ext cx="8849033" cy="439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0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2B1B-D902-7001-5DC3-913AA41C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38667"/>
            <a:ext cx="10131425" cy="1047682"/>
          </a:xfrm>
          <a:solidFill>
            <a:schemeClr val="bg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Task 2: </a:t>
            </a:r>
            <a:r>
              <a:rPr lang="en-US" dirty="0"/>
              <a:t>Most Profitable Product Line for Each Branch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4E41E-8244-C6CC-E0F6-B41E15BBC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1705" y="1592263"/>
            <a:ext cx="8299614" cy="429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30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A5D5-2F17-140E-1365-05103D3B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06478"/>
            <a:ext cx="10131425" cy="963562"/>
          </a:xfrm>
          <a:solidFill>
            <a:schemeClr val="bg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Task 3: </a:t>
            </a:r>
            <a:r>
              <a:rPr lang="en-US" dirty="0"/>
              <a:t>Customer Segmentation Based on Spending 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4F0D92-217F-DA45-4976-B0D1D9B1B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981" y="1406525"/>
            <a:ext cx="8219767" cy="449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4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57E6-1CD9-DCAE-009D-68C8F7C2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80219"/>
            <a:ext cx="10131425" cy="786581"/>
          </a:xfrm>
          <a:solidFill>
            <a:schemeClr val="bg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Task 4: </a:t>
            </a:r>
            <a:r>
              <a:rPr lang="en-US" dirty="0"/>
              <a:t>Detecting Anomalies in Sales Transactions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3A9B5-C87A-C477-6185-8D95F6562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503" y="1685135"/>
            <a:ext cx="8200103" cy="460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29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AFBF-9902-03B9-A987-7B82940D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45807"/>
            <a:ext cx="10131425" cy="943896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dirty="0"/>
              <a:t>Task 5: </a:t>
            </a:r>
            <a:r>
              <a:rPr lang="en-US" dirty="0"/>
              <a:t>Most Popular Payment Method by City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FDF40F-8CB6-5CB8-A4C3-266640CFE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027" y="1425575"/>
            <a:ext cx="8996516" cy="459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4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DECD-6627-07B3-4444-F463CA570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60555"/>
            <a:ext cx="10131425" cy="899651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Task 6: Monthly Sales Distribution by Gender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F12498-E9E1-4D7D-73F1-E06B69DE5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690" y="1376363"/>
            <a:ext cx="8829368" cy="46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0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5953-1439-05C3-D2B8-4B7F2AEA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85136"/>
            <a:ext cx="10131425" cy="855406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Task 7: Best Product Line by Customer Type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B9E6E-57B2-D160-8AE8-1DC691F549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523" y="1385887"/>
            <a:ext cx="8917858" cy="462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0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D650-2457-58A7-4FA1-91CF8A50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94967"/>
            <a:ext cx="10131425" cy="953729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Task 8: Identifying Repeat Customers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E77C0B-C84D-6094-BF9A-DC756AD75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869" y="1493837"/>
            <a:ext cx="8781286" cy="441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8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7C8C-9D3A-1CE7-DC20-22ACCA7F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4465"/>
            <a:ext cx="10131425" cy="825910"/>
          </a:xfrm>
          <a:solidFill>
            <a:schemeClr val="bg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Task 9: Finding Top 5 Customers by Sales Volume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4D8B7-0CEA-FF9F-177B-066D4822C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671" y="1416050"/>
            <a:ext cx="8573729" cy="44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26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0144-1EDF-A7AB-AED4-EE3B8D4C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4969"/>
            <a:ext cx="10131425" cy="894734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Task 10: Sales Trends by Day of the Week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8BDF7-3C94-76CB-A377-A14A43943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790" y="1465263"/>
            <a:ext cx="8705445" cy="450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8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395A-2BDD-2D0B-7464-60C13D30A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4464"/>
            <a:ext cx="10131425" cy="825909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dirty="0"/>
              <a:t>Observations &amp; Key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D149E-8FFA-AD54-1E61-CC1DE8CD7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50142"/>
            <a:ext cx="10131425" cy="3726426"/>
          </a:xfrm>
        </p:spPr>
        <p:txBody>
          <a:bodyPr/>
          <a:lstStyle/>
          <a:p>
            <a:r>
              <a:rPr lang="en-IN" dirty="0"/>
              <a:t>Branch A has the fastest sales growth</a:t>
            </a:r>
          </a:p>
          <a:p>
            <a:r>
              <a:rPr lang="en-IN" dirty="0"/>
              <a:t> </a:t>
            </a:r>
            <a:r>
              <a:rPr lang="en-US" dirty="0"/>
              <a:t>Electronics, lifestyle, &amp; Food are the most profitable product lines</a:t>
            </a:r>
          </a:p>
          <a:p>
            <a:r>
              <a:rPr lang="en-US" dirty="0"/>
              <a:t> The month of January has the highest revenue</a:t>
            </a:r>
          </a:p>
          <a:p>
            <a:r>
              <a:rPr lang="en-US" dirty="0"/>
              <a:t>Saturday has the highest sales of the week</a:t>
            </a:r>
          </a:p>
          <a:p>
            <a:r>
              <a:rPr lang="en-US" dirty="0"/>
              <a:t>Only a small group of customers brings the most revenue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0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6397-D6D9-476F-E2DC-1E841191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934065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dirty="0"/>
              <a:t>Recommendations for the future: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276C-4BB3-652F-6ECF-2B42C7C06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4433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analysis identified several actionable strategies to boost sales. Key recommendations include:</a:t>
            </a:r>
          </a:p>
          <a:p>
            <a:r>
              <a:rPr lang="en-US" b="1" dirty="0"/>
              <a:t>Target promotions</a:t>
            </a:r>
            <a:r>
              <a:rPr lang="en-US" dirty="0"/>
              <a:t> on Saturday and weekends to leverage high-traffic periods.</a:t>
            </a:r>
          </a:p>
          <a:p>
            <a:r>
              <a:rPr lang="en-US" b="1" dirty="0"/>
              <a:t>Expand profitable product lines</a:t>
            </a:r>
            <a:r>
              <a:rPr lang="en-US" dirty="0"/>
              <a:t> at each branch.</a:t>
            </a:r>
          </a:p>
          <a:p>
            <a:r>
              <a:rPr lang="en-US" b="1" dirty="0"/>
              <a:t>Focus on high-spending, repeat customers</a:t>
            </a:r>
            <a:r>
              <a:rPr lang="en-US" dirty="0"/>
              <a:t> to increase customer lifetime value.</a:t>
            </a:r>
          </a:p>
          <a:p>
            <a:r>
              <a:rPr lang="en-US" b="1" dirty="0"/>
              <a:t>Promote underused payment methods</a:t>
            </a:r>
            <a:r>
              <a:rPr lang="en-US" dirty="0"/>
              <a:t> in specific cities.</a:t>
            </a:r>
          </a:p>
          <a:p>
            <a:r>
              <a:rPr lang="en-US" dirty="0"/>
              <a:t>Launch offers and discounts on weekdays to attract more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729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272C-826D-0FF7-4B3C-9F4A5516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4465"/>
            <a:ext cx="10131425" cy="825909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/>
              <a:t>Future Actions: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6566-6933-6A69-85DC-59D675ADC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50374"/>
            <a:ext cx="10131425" cy="3649133"/>
          </a:xfrm>
        </p:spPr>
        <p:txBody>
          <a:bodyPr/>
          <a:lstStyle/>
          <a:p>
            <a:r>
              <a:rPr lang="en-IN" sz="2400" dirty="0"/>
              <a:t>As the data only covers three months(Jan – March), it </a:t>
            </a:r>
            <a:r>
              <a:rPr lang="en-US" sz="2400" dirty="0"/>
              <a:t>might not represent a full sales cycle; extend the analysis to a full year to capture seasonal and holiday sales patterns.</a:t>
            </a:r>
          </a:p>
          <a:p>
            <a:r>
              <a:rPr lang="en-US" sz="2400" dirty="0"/>
              <a:t>Focus on the areas and branches that are not performing well.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975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68BB2-398B-42BC-6E3A-A57E2691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2700866"/>
            <a:ext cx="6638516" cy="1456267"/>
          </a:xfrm>
          <a:gradFill flip="none" rotWithShape="1">
            <a:gsLst>
              <a:gs pos="0">
                <a:schemeClr val="bg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bg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bg2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pPr algn="r"/>
            <a:r>
              <a:rPr lang="en-IN" sz="7200" b="1" u="sng" dirty="0"/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0E6B-AB08-8BB3-5473-B1F4DCB65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291" y="4503173"/>
            <a:ext cx="10131425" cy="1226508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IN" sz="2800" dirty="0">
                <a:solidFill>
                  <a:srgbClr val="FFC000"/>
                </a:solidFill>
                <a:hlinkClick r:id="rId3"/>
              </a:rPr>
              <a:t>Video explanation: DRIVE LINK </a:t>
            </a:r>
            <a:br>
              <a:rPr lang="en-IN" sz="2800" dirty="0">
                <a:solidFill>
                  <a:srgbClr val="FFC000"/>
                </a:solidFill>
              </a:rPr>
            </a:br>
            <a:r>
              <a:rPr lang="en-IN" sz="2800" dirty="0">
                <a:solidFill>
                  <a:srgbClr val="FFC000"/>
                </a:solidFill>
              </a:rPr>
              <a:t>Presented by: Uma Yadav</a:t>
            </a:r>
          </a:p>
        </p:txBody>
      </p:sp>
    </p:spTree>
    <p:extLst>
      <p:ext uri="{BB962C8B-B14F-4D97-AF65-F5344CB8AC3E}">
        <p14:creationId xmlns:p14="http://schemas.microsoft.com/office/powerpoint/2010/main" val="689741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6528</TotalTime>
  <Words>417</Words>
  <Application>Microsoft Office PowerPoint</Application>
  <PresentationFormat>Widescreen</PresentationFormat>
  <Paragraphs>55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Celestial</vt:lpstr>
      <vt:lpstr>Sales Performance Analysis of Walmart Stores </vt:lpstr>
      <vt:lpstr>Analyze Walmart sales to find insights</vt:lpstr>
      <vt:lpstr>Dateset overview</vt:lpstr>
      <vt:lpstr>Tools Used </vt:lpstr>
      <vt:lpstr>Task 1: Finding top branches by sales growth rate</vt:lpstr>
      <vt:lpstr>Task 2: Most Profitable Product Line for Each Branch</vt:lpstr>
      <vt:lpstr>Task 3: Customer Segmentation Based on Spending </vt:lpstr>
      <vt:lpstr>Task 4: Detecting Anomalies in Sales Transactions </vt:lpstr>
      <vt:lpstr>Task 5: Most Popular Payment Method by City </vt:lpstr>
      <vt:lpstr>Task 6: Monthly Sales Distribution by Gender </vt:lpstr>
      <vt:lpstr>Task 7: Best Product Line by Customer Type</vt:lpstr>
      <vt:lpstr>Task 8: Identifying Repeat Customers</vt:lpstr>
      <vt:lpstr>Task 9: Finding Top 5 Customers by Sales Volume</vt:lpstr>
      <vt:lpstr>Task 10: Sales Trends by Day of the Week </vt:lpstr>
      <vt:lpstr>Observations &amp; Key insights </vt:lpstr>
      <vt:lpstr>Recommendations for the future:</vt:lpstr>
      <vt:lpstr>Future Actions: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Ranjeet Yadav</dc:creator>
  <cp:lastModifiedBy>Ranjeet Yadav</cp:lastModifiedBy>
  <cp:revision>4</cp:revision>
  <dcterms:created xsi:type="dcterms:W3CDTF">2025-09-22T09:59:24Z</dcterms:created>
  <dcterms:modified xsi:type="dcterms:W3CDTF">2025-09-27T10:10:41Z</dcterms:modified>
</cp:coreProperties>
</file>